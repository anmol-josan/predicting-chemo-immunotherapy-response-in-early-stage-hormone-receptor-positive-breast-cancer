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Multimodal ML for HR+ Breast Cancer</a:t>
            </a:r>
            <a:br/>
            <a:r>
              <a:t>Immunotherapy Response Prediction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3498DB"/>
                </a:solidFill>
                <a:latin typeface="Calibri"/>
              </a:defRPr>
            </a:pPr>
            <a:r>
              <a:t>Data Science Final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696A5"/>
                </a:solidFill>
                <a:latin typeface="Calibri"/>
              </a:defRPr>
            </a:pPr>
            <a:r>
              <a:t>Single-Cell RNA-Seq + TCR Sequencing  |  GSE300475  |  NCT02999477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696A5"/>
                </a:solidFill>
                <a:latin typeface="Calibri"/>
              </a:defRPr>
            </a:pPr>
            <a:r>
              <a:t>February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98DB"/>
                </a:solidFill>
                <a:latin typeface="Calibri"/>
              </a:defRPr>
            </a:pPr>
            <a:r>
              <a:t>Problem Statement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C8C8D2"/>
                </a:solidFill>
                <a:latin typeface="Calibri"/>
              </a:defRPr>
            </a:pPr>
            <a:r>
              <a:t>• HR+/HER2- breast cancer: most common subtype (~70% of cases)</a:t>
            </a:r>
          </a:p>
          <a:p>
            <a:pPr>
              <a:spcAft>
                <a:spcPts val="600"/>
              </a:spcAft>
              <a:defRPr sz="1600">
                <a:solidFill>
                  <a:srgbClr val="C8C8D2"/>
                </a:solidFill>
                <a:latin typeface="Calibri"/>
              </a:defRPr>
            </a:pPr>
            <a:r>
              <a:t>• Immunotherapy (pembrolizumab) shows variable response</a:t>
            </a:r>
          </a:p>
          <a:p>
            <a:pPr>
              <a:spcAft>
                <a:spcPts val="600"/>
              </a:spcAft>
              <a:defRPr sz="1600">
                <a:solidFill>
                  <a:srgbClr val="C8C8D2"/>
                </a:solidFill>
                <a:latin typeface="Calibri"/>
              </a:defRPr>
            </a:pPr>
            <a:r>
              <a:t>• Clinical trial DFCI 16-466: neoadjuvant nab-paclitaxel + pembrolizumab</a:t>
            </a:r>
          </a:p>
          <a:p>
            <a:pPr>
              <a:spcAft>
                <a:spcPts val="600"/>
              </a:spcAft>
              <a:defRPr sz="1600">
                <a:solidFill>
                  <a:srgbClr val="C8C8D2"/>
                </a:solidFill>
                <a:latin typeface="Calibri"/>
              </a:defRPr>
            </a:pPr>
            <a:r>
              <a:t>• Challenge: Predict who will respond BEFORE treatment begins</a:t>
            </a:r>
          </a:p>
          <a:p>
            <a:pPr>
              <a:spcAft>
                <a:spcPts val="600"/>
              </a:spcAft>
              <a:defRPr sz="1600">
                <a:solidFill>
                  <a:srgbClr val="C8C8D2"/>
                </a:solidFill>
                <a:latin typeface="Calibri"/>
              </a:defRPr>
            </a:pPr>
            <a:r>
              <a:t>• Binary classification: Responder (pCR/RCB-I) vs Non-Responder (RCB-II/III)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1887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Calibri"/>
              </a:defRPr>
            </a:pPr>
            <a:r>
              <a:t>Dataset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82880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C8C8D2"/>
                </a:solidFill>
                <a:latin typeface="Calibri"/>
              </a:defRPr>
            </a:pPr>
            <a:r>
              <a:t>• Source: GEO GSE300475 (Sun et al., npj Breast Cancer 2025)</a:t>
            </a:r>
          </a:p>
          <a:p>
            <a:pPr>
              <a:spcAft>
                <a:spcPts val="600"/>
              </a:spcAft>
              <a:defRPr sz="1500">
                <a:solidFill>
                  <a:srgbClr val="C8C8D2"/>
                </a:solidFill>
                <a:latin typeface="Calibri"/>
              </a:defRPr>
            </a:pPr>
            <a:r>
              <a:t>• 11 samples from 5 patients (PT1-PT5, PT11)</a:t>
            </a:r>
          </a:p>
          <a:p>
            <a:pPr>
              <a:spcAft>
                <a:spcPts val="600"/>
              </a:spcAft>
              <a:defRPr sz="1500">
                <a:solidFill>
                  <a:srgbClr val="C8C8D2"/>
                </a:solidFill>
                <a:latin typeface="Calibri"/>
              </a:defRPr>
            </a:pPr>
            <a:r>
              <a:t>• Modalities: scRNA-seq + TCR-seq</a:t>
            </a:r>
          </a:p>
          <a:p>
            <a:pPr>
              <a:spcAft>
                <a:spcPts val="600"/>
              </a:spcAft>
              <a:defRPr sz="1500">
                <a:solidFill>
                  <a:srgbClr val="C8C8D2"/>
                </a:solidFill>
                <a:latin typeface="Calibri"/>
              </a:defRPr>
            </a:pPr>
            <a:r>
              <a:t>• Timepoints: Baseline, Post-Chemo, Post-ICI</a:t>
            </a:r>
          </a:p>
          <a:p>
            <a:pPr>
              <a:spcAft>
                <a:spcPts val="600"/>
              </a:spcAft>
              <a:defRPr sz="1500">
                <a:solidFill>
                  <a:srgbClr val="C8C8D2"/>
                </a:solidFill>
                <a:latin typeface="Calibri"/>
              </a:defRPr>
            </a:pPr>
            <a:r>
              <a:t>• ~565 MB raw data (10x Genomics format)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98DB"/>
                </a:solidFill>
                <a:latin typeface="Calibri"/>
              </a:defRPr>
            </a:pPr>
            <a:r>
              <a:t>Methods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498DB"/>
                </a:solidFill>
                <a:latin typeface="Calibri"/>
              </a:defRPr>
            </a:pPr>
            <a:r>
              <a:t>1. Data Acquisition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92024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8C8D2"/>
                </a:solidFill>
                <a:latin typeface="Calibri"/>
              </a:defRPr>
            </a:pPr>
            <a:r>
              <a:t>Download from GEO</a:t>
            </a:r>
            <a:br/>
            <a:r>
              <a:t>10x Genomics format</a:t>
            </a:r>
            <a:br/>
            <a:r>
              <a:t>.mtx + .tsv + .csv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3716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ECC71"/>
                </a:solidFill>
                <a:latin typeface="Calibri"/>
              </a:defRPr>
            </a:pPr>
            <a:r>
              <a:t>2. Preprocessing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192024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8C8D2"/>
                </a:solidFill>
                <a:latin typeface="Calibri"/>
              </a:defRPr>
            </a:pPr>
            <a:r>
              <a:t>QC: min 200 genes</a:t>
            </a:r>
            <a:br/>
            <a:r>
              <a:t>Normalize (10K)</a:t>
            </a:r>
            <a:br/>
            <a:r>
              <a:t>Log-transform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3716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9B59B6"/>
                </a:solidFill>
                <a:latin typeface="Calibri"/>
              </a:defRPr>
            </a:pPr>
            <a:r>
              <a:t>3. Feature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92024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8C8D2"/>
                </a:solidFill>
                <a:latin typeface="Calibri"/>
              </a:defRPr>
            </a:pPr>
            <a:r>
              <a:t>Gene PCA (15)</a:t>
            </a:r>
            <a:br/>
            <a:r>
              <a:t>TCR k-mers (100)</a:t>
            </a:r>
            <a:br/>
            <a:r>
              <a:t>Physicochemical (6+)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3716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67E22"/>
                </a:solidFill>
                <a:latin typeface="Calibri"/>
              </a:defRPr>
            </a:pPr>
            <a:r>
              <a:t>4. Unsupervised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92024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8C8D2"/>
                </a:solidFill>
                <a:latin typeface="Calibri"/>
              </a:defRPr>
            </a:pPr>
            <a:r>
              <a:t>Leiden clustering</a:t>
            </a:r>
            <a:br/>
            <a:r>
              <a:t>Hierarchical</a:t>
            </a:r>
            <a:br/>
            <a:r>
              <a:t>UMAP embedding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13716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74C3C"/>
                </a:solidFill>
                <a:latin typeface="Calibri"/>
              </a:defRPr>
            </a:pPr>
            <a:r>
              <a:t>5. Supervised 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192024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8C8D2"/>
                </a:solidFill>
                <a:latin typeface="Calibri"/>
              </a:defRPr>
            </a:pPr>
            <a:r>
              <a:t>LR, DT, RF, XGBoost</a:t>
            </a:r>
            <a:br/>
            <a:r>
              <a:t>LOPO validation</a:t>
            </a:r>
            <a:br/>
            <a:r>
              <a:t>GridSearchCV tuning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13716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498DB"/>
                </a:solidFill>
                <a:latin typeface="Calibri"/>
              </a:defRPr>
            </a:pPr>
            <a:r>
              <a:t>6. Deep Learning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192024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8C8D2"/>
                </a:solidFill>
                <a:latin typeface="Calibri"/>
              </a:defRPr>
            </a:pPr>
            <a:r>
              <a:t>MLP, CNN, BiLSTM</a:t>
            </a:r>
            <a:br/>
            <a:r>
              <a:t>PyTorch → .pth</a:t>
            </a:r>
            <a:br/>
            <a:r>
              <a:t>Early stopping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840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Feature Architecture (144 total features):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89120"/>
            <a:ext cx="10972800" cy="81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9696A5"/>
                </a:solidFill>
                <a:latin typeface="Calibri"/>
              </a:defRPr>
            </a:pPr>
            <a:r>
              <a:rPr dirty="0"/>
              <a:t>15 Gene Expression PCA  +  50 TRA k-</a:t>
            </a:r>
            <a:r>
              <a:rPr dirty="0" err="1"/>
              <a:t>mer</a:t>
            </a:r>
            <a:r>
              <a:rPr dirty="0"/>
              <a:t> SVD  +  50 TRB k-</a:t>
            </a:r>
            <a:r>
              <a:rPr dirty="0" err="1"/>
              <a:t>mer</a:t>
            </a:r>
            <a:r>
              <a:rPr dirty="0"/>
              <a:t> SVD  +  6 Physicochemical  +  3 QC Metrics  +  14 Enhanced Physicochemical  +  6 Diversity Metrics</a:t>
            </a:r>
          </a:p>
          <a:p>
            <a:pPr>
              <a:spcAft>
                <a:spcPts val="600"/>
              </a:spcAft>
              <a:defRPr sz="1400">
                <a:solidFill>
                  <a:srgbClr val="9696A5"/>
                </a:solidFill>
                <a:latin typeface="Calibri"/>
              </a:defRPr>
            </a:pPr>
            <a:r>
              <a:rPr dirty="0"/>
              <a:t>Validation: Leave-One-Patient-Out (LOPO)</a:t>
            </a:r>
            <a:r>
              <a:rPr lang="en-US" dirty="0"/>
              <a:t>,</a:t>
            </a:r>
            <a:r>
              <a:rPr dirty="0"/>
              <a:t> completely prevents data leakage between patients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98DB"/>
                </a:solidFill>
                <a:latin typeface="Calibri"/>
              </a:defRPr>
            </a:pPr>
            <a:r>
              <a:t>Hyperparameter Tuning Log (4 Configurations)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5049765"/>
              </p:ext>
            </p:extLst>
          </p:nvPr>
        </p:nvGraphicFramePr>
        <p:xfrm>
          <a:off x="457200" y="1188720"/>
          <a:ext cx="10972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498DB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498DB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max_depth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498DB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learning_rate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498DB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n_estimators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498DB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subsample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498DB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498DB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498DB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chemeClr val="tx1"/>
                          </a:solidFill>
                        </a:rPr>
                        <a:t>AUC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1: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0.72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chemeClr val="tx1"/>
                          </a:solidFill>
                        </a:rPr>
                        <a:t>0.71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2: Deeper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chemeClr val="tx1"/>
                          </a:solidFill>
                        </a:rPr>
                        <a:t>0.76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3: Regularized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0.66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chemeClr val="tx1"/>
                          </a:solidFill>
                        </a:rPr>
                        <a:t>0.69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4: Wide Shallow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chemeClr val="tx1"/>
                          </a:solidFill>
                        </a:rPr>
                        <a:t>0.74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840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Key Insights: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0"/>
            <a:ext cx="10972800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C8C8D2"/>
                </a:solidFill>
                <a:latin typeface="Calibri"/>
              </a:defRPr>
            </a:pPr>
            <a:r>
              <a:rPr dirty="0"/>
              <a:t>★ Best config: #2 (Deeper)</a:t>
            </a:r>
            <a:r>
              <a:rPr lang="en-US" dirty="0"/>
              <a:t>,</a:t>
            </a:r>
            <a:r>
              <a:rPr dirty="0"/>
              <a:t> </a:t>
            </a:r>
            <a:r>
              <a:rPr dirty="0" err="1"/>
              <a:t>max_depth</a:t>
            </a:r>
            <a:r>
              <a:rPr dirty="0"/>
              <a:t>=6, </a:t>
            </a:r>
            <a:r>
              <a:rPr dirty="0" err="1"/>
              <a:t>lr</a:t>
            </a:r>
            <a:r>
              <a:rPr dirty="0"/>
              <a:t>=0.05, </a:t>
            </a:r>
            <a:r>
              <a:rPr dirty="0" err="1"/>
              <a:t>n_estimators</a:t>
            </a:r>
            <a:r>
              <a:rPr dirty="0"/>
              <a:t>=200</a:t>
            </a:r>
          </a:p>
          <a:p>
            <a:pPr>
              <a:spcAft>
                <a:spcPts val="600"/>
              </a:spcAft>
              <a:defRPr sz="1500">
                <a:solidFill>
                  <a:srgbClr val="C8C8D2"/>
                </a:solidFill>
                <a:latin typeface="Calibri"/>
              </a:defRPr>
            </a:pPr>
            <a:r>
              <a:rPr dirty="0"/>
              <a:t>• Config #3 (Low LR) underfits: too conservative learning rate with high regularization</a:t>
            </a:r>
          </a:p>
          <a:p>
            <a:pPr>
              <a:spcAft>
                <a:spcPts val="600"/>
              </a:spcAft>
              <a:defRPr sz="1500">
                <a:solidFill>
                  <a:srgbClr val="C8C8D2"/>
                </a:solidFill>
                <a:latin typeface="Calibri"/>
              </a:defRPr>
            </a:pPr>
            <a:r>
              <a:rPr dirty="0"/>
              <a:t>• Shallow models (#1, #4) limited by tree depth for complex multi-modal features</a:t>
            </a:r>
          </a:p>
          <a:p>
            <a:pPr>
              <a:spcAft>
                <a:spcPts val="600"/>
              </a:spcAft>
              <a:defRPr sz="1500">
                <a:solidFill>
                  <a:srgbClr val="C8C8D2"/>
                </a:solidFill>
                <a:latin typeface="Calibri"/>
              </a:defRPr>
            </a:pPr>
            <a:r>
              <a:rPr dirty="0"/>
              <a:t>• </a:t>
            </a:r>
            <a:r>
              <a:rPr dirty="0" err="1"/>
              <a:t>GroupKFold</a:t>
            </a:r>
            <a:r>
              <a:rPr dirty="0"/>
              <a:t> inner CV used for all hyperparameter selection to prevent data leakage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98DB"/>
                </a:solidFill>
                <a:latin typeface="Calibri"/>
              </a:defRPr>
            </a:pPr>
            <a:r>
              <a:t>Training vs. Validation Loss (Overfitting Check)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Calibri"/>
              </a:defRPr>
            </a:pPr>
            <a:r>
              <a:t>XGBoost Log Loss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t>• Training loss steadily decreases across 200 boosting rounds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t>• Validation loss converges ~round 80, then plateaus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t>• Minimal gap between train/val → Low overfitting risk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t>• Best round selected: ~round 80 (early stopping candidate)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1887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9B59B6"/>
                </a:solidFill>
                <a:latin typeface="Calibri"/>
              </a:defRPr>
            </a:pPr>
            <a:r>
              <a:t>PyTorch MLP (BCE Loss)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73736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t>• Training loss: smooth exponential decay over 60 epochs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t>• Validation loss: converges by epoch 25-30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t>• Train-val gap &lt; 0.1 at convergence → Acceptable generalization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t>• Dropout (0.3) + BatchNorm + weight decay prevent memorization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389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7E22"/>
                </a:solidFill>
                <a:latin typeface="Calibri"/>
              </a:defRPr>
            </a:pPr>
            <a:r>
              <a:t>Overfitting Mitigation Strategies: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3776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t>1. Dropout (p=0.3) after each hidden layer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t>2. BatchNorm for stable gradient flow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t>3. L2 weight decay (1e-4) via Adam optimizer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t>4. Early stopping with patience=8 on validation loss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t>5. ReduceLROnPlateau scheduler (factor=0.5, patience=5)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98DB"/>
                </a:solidFill>
                <a:latin typeface="Calibri"/>
              </a:defRPr>
            </a:pPr>
            <a:r>
              <a:t>Model Evaluation Metrics (LOPO Cross-Validation)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3819466"/>
              </p:ext>
            </p:extLst>
          </p:nvPr>
        </p:nvGraphicFramePr>
        <p:xfrm>
          <a:off x="274320" y="1097280"/>
          <a:ext cx="11430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28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328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328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328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328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328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3285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0005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498DB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498DB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Feature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498DB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498DB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498DB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498DB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F1-Score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498DB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chemeClr val="tx1"/>
                          </a:solidFill>
                        </a:rPr>
                        <a:t>AUC-ROC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Logistic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comprehensive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chemeClr val="tx1"/>
                          </a:solidFill>
                        </a:rPr>
                        <a:t>0.72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Decision 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comprehensive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0.65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0.64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0.62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0.63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chemeClr val="tx1"/>
                          </a:solidFill>
                        </a:rPr>
                        <a:t>0.60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comprehensive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0.74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0.72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chemeClr val="tx1"/>
                          </a:solidFill>
                        </a:rPr>
                        <a:t>0.78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2ECC71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2ECC71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comprehensive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2ECC71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2ECC71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0.78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2ECC71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chemeClr val="tx1"/>
                          </a:solidFill>
                        </a:rPr>
                        <a:t>0.74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2ECC71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2ECC71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chemeClr val="tx1"/>
                          </a:solidFill>
                        </a:rPr>
                        <a:t>0.80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PyTorch MLP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gene_pca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0.72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0.74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0.72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chemeClr val="tx1"/>
                          </a:solidFill>
                        </a:rPr>
                        <a:t>0.77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PyTorch CNN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gene_pca+seq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chemeClr val="tx1"/>
                          </a:solidFill>
                        </a:rPr>
                        <a:t>0.74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PyTorch BiLSTM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gene_pca+seq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chemeClr val="tx1"/>
                          </a:solidFill>
                        </a:rPr>
                        <a:t>0.73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754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Key Findings: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212080"/>
            <a:ext cx="1097280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rPr dirty="0"/>
              <a:t>★ </a:t>
            </a:r>
            <a:r>
              <a:rPr dirty="0" err="1"/>
              <a:t>XGBoost</a:t>
            </a:r>
            <a:r>
              <a:rPr dirty="0"/>
              <a:t> with comprehensive features achieves best performance (AUC=0.80, F1=0.75)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rPr dirty="0"/>
              <a:t>• Tree-based models outperform deep learning</a:t>
            </a:r>
            <a:r>
              <a:rPr lang="en-US" dirty="0"/>
              <a:t>,</a:t>
            </a:r>
            <a:r>
              <a:rPr dirty="0"/>
              <a:t> appropriate for small sample sizes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rPr dirty="0"/>
              <a:t>• LOPO ensures zero data leakage between patients → robust generalization estimate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ECC71"/>
                </a:solidFill>
                <a:latin typeface="Calibri"/>
              </a:defRPr>
            </a:pPr>
            <a:r>
              <a:t>Success Analysis: Correctly Classified Patients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Calibri"/>
              </a:defRPr>
            </a:pPr>
            <a:r>
              <a:t>Responders Correctly Identified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t>PT1 (Baseline → Post-Chemo): Probability 0.83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t>• High TCR diversity (Shannon entropy) indicated robust immune response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t>• Dynamic clonal expansion patterns in TRB chain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t>• Strong expression of cytotoxic markers (GZMB, PRF1)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endParaRPr/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t>PT5 (Multi-timepoint): Probability 0.79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t>• Consistent responder signal across Baseline → Post-ICI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t>• Diverse TCR repertoire with productive rearrangements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74C3C"/>
                </a:solidFill>
                <a:latin typeface="Calibri"/>
              </a:defRPr>
            </a:pPr>
            <a:r>
              <a:t>Non-Responders Correctly Identified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73736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t>PT2 (Baseline → Post-Chemo): Probability 0.22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t>• Low TCR clonality suggested limited immune engagement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t>• Absence of neoantigen-reactive T-cell signatures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t>• Stable (non-expanding) clonotype repertoire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endParaRPr/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t>PT4 (Baseline only): Probability 0.31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t>• Dominant single clonotype → oligoclonal (restricted) repertoire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t>• Lower gene expression PC1/PC2 variance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Why the model succeeds: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9696A5"/>
                </a:solidFill>
                <a:latin typeface="Calibri"/>
              </a:defRPr>
            </a:pPr>
            <a:r>
              <a:t>Multi-modal features capture both immune activation (gene expression) and TCR repertoire diversity</a:t>
            </a:r>
          </a:p>
          <a:p>
            <a:pPr>
              <a:spcAft>
                <a:spcPts val="600"/>
              </a:spcAft>
              <a:defRPr sz="1400">
                <a:solidFill>
                  <a:srgbClr val="9696A5"/>
                </a:solidFill>
                <a:latin typeface="Calibri"/>
              </a:defRPr>
            </a:pPr>
            <a:r>
              <a:t>SHAP analysis confirms TCR k-mer features and gene PCs are top discriminators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74C3C"/>
                </a:solidFill>
                <a:latin typeface="Calibri"/>
              </a:defRPr>
            </a:pPr>
            <a:r>
              <a:t>Failure Analysis: Misclassified Cases &amp;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67E22"/>
                </a:solidFill>
                <a:latin typeface="Calibri"/>
              </a:defRPr>
            </a:pPr>
            <a:r>
              <a:t>Misclassification Root Causes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t>1. Borderline Response (RCB-I/II boundary)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t>   → Patients near the decision boundary produce mixed feature signals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t>   → Probability ~0.45-0.55 indicates model uncertainty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endParaRPr/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t>2. Low Cell Count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t>   → Samples with &lt; 100 TCR-annotated cells have noisy features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t>   → Insufficient data for stable k-mer/physicochemical encoding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endParaRPr/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t>3. Missing TCR Data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t>   → PT5/S8 has no TCR annotation → excluded from analysis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t>   → Incomplete modality reduces classification power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74C3C"/>
                </a:solidFill>
                <a:latin typeface="Calibri"/>
              </a:defRPr>
            </a:pPr>
            <a:r>
              <a:t>Systematic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73736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t>• Small cohort (n=5 patients) limits statistical power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t>• LOPO with few patients → high variance in fold estimates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t>• No independent validation cohort available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t>• Class imbalance: 3 Responders vs 2 Non-Responders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t>• Single-site clinical trial may not generalize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endParaRPr/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t>Proposed Remedies: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t>• Expand to external datasets (e.g., TCGA BRCA)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t>• Use data augmentation (SMOTE, noise injection)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t>• Transfer learning from larger scRNA-seq atlases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t>• Multi-site validation study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98DB"/>
                </a:solidFill>
                <a:latin typeface="Calibri"/>
              </a:defRPr>
            </a:pPr>
            <a:r>
              <a:t>SHAP Feature Importance (Top 20 Features)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9B59B6"/>
                </a:solidFill>
                <a:latin typeface="Calibri"/>
              </a:defRPr>
            </a:pPr>
            <a:r>
              <a:t>Top Features by Mean |SHAP Value|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303520" cy="2939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rPr dirty="0"/>
              <a:t>1.  TRA_kmer_12 </a:t>
            </a:r>
            <a:r>
              <a:rPr lang="en-US" dirty="0"/>
              <a:t>,</a:t>
            </a:r>
            <a:r>
              <a:rPr dirty="0"/>
              <a:t> α-chain CDR3 sequence pattern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rPr dirty="0"/>
              <a:t>2.  Gene_PC1</a:t>
            </a:r>
            <a:r>
              <a:rPr lang="en-US" dirty="0"/>
              <a:t>,</a:t>
            </a:r>
            <a:r>
              <a:rPr dirty="0"/>
              <a:t> primary expression component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rPr dirty="0"/>
              <a:t>3.  TRB_kmer_</a:t>
            </a:r>
            <a:r>
              <a:rPr lang="en-US" dirty="0"/>
              <a:t>5,</a:t>
            </a:r>
            <a:r>
              <a:rPr dirty="0"/>
              <a:t> β-chain CDR3 motif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rPr dirty="0"/>
              <a:t>4.  Gene_PC2 </a:t>
            </a:r>
            <a:r>
              <a:rPr lang="en-US" dirty="0"/>
              <a:t>,</a:t>
            </a:r>
            <a:r>
              <a:rPr dirty="0"/>
              <a:t> secondary expression axis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rPr dirty="0"/>
              <a:t>5.  </a:t>
            </a:r>
            <a:r>
              <a:rPr dirty="0" err="1"/>
              <a:t>TRA_len</a:t>
            </a:r>
            <a:r>
              <a:rPr lang="en-US" dirty="0"/>
              <a:t>,</a:t>
            </a:r>
            <a:r>
              <a:rPr dirty="0"/>
              <a:t> α-chain CDR3 length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rPr dirty="0"/>
              <a:t>6.  TRB_kmer_18</a:t>
            </a:r>
            <a:r>
              <a:rPr lang="en-US" dirty="0"/>
              <a:t>,</a:t>
            </a:r>
            <a:r>
              <a:rPr dirty="0"/>
              <a:t> β-chain k-</a:t>
            </a:r>
            <a:r>
              <a:rPr dirty="0" err="1"/>
              <a:t>mer</a:t>
            </a:r>
            <a:r>
              <a:rPr dirty="0"/>
              <a:t> frequency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rPr dirty="0"/>
              <a:t>7.  TRB_MW</a:t>
            </a:r>
            <a:r>
              <a:rPr lang="en-US" dirty="0"/>
              <a:t>,</a:t>
            </a:r>
            <a:r>
              <a:rPr dirty="0"/>
              <a:t> β-chain molecular weight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rPr dirty="0"/>
              <a:t>8.  Gene_PC3</a:t>
            </a:r>
            <a:r>
              <a:rPr lang="en-US" dirty="0"/>
              <a:t>,</a:t>
            </a:r>
            <a:r>
              <a:rPr dirty="0"/>
              <a:t> immune activation component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rPr dirty="0"/>
              <a:t>9.  </a:t>
            </a:r>
            <a:r>
              <a:rPr dirty="0" err="1"/>
              <a:t>TRA_hydro</a:t>
            </a:r>
            <a:r>
              <a:rPr lang="en-US" dirty="0"/>
              <a:t>,</a:t>
            </a:r>
            <a:r>
              <a:rPr dirty="0"/>
              <a:t> α-chain hydrophobicity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rPr dirty="0"/>
              <a:t>10. </a:t>
            </a:r>
            <a:r>
              <a:rPr dirty="0" err="1"/>
              <a:t>pct</a:t>
            </a:r>
            <a:r>
              <a:rPr err="1"/>
              <a:t>_</a:t>
            </a:r>
            <a:r>
              <a:t>mt</a:t>
            </a:r>
            <a:r>
              <a:rPr lang="en-US"/>
              <a:t>,</a:t>
            </a:r>
            <a:r>
              <a:t> </a:t>
            </a:r>
            <a:r>
              <a:rPr dirty="0"/>
              <a:t>mitochondrial gene fraction (QC)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Calibri"/>
              </a:defRPr>
            </a:pPr>
            <a:r>
              <a:t>Biological Interpretation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737360"/>
            <a:ext cx="5303520" cy="35240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rPr dirty="0"/>
              <a:t>TCR Sequence Features (60% of top 20):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rPr dirty="0"/>
              <a:t>  → K-</a:t>
            </a:r>
            <a:r>
              <a:rPr dirty="0" err="1"/>
              <a:t>mer</a:t>
            </a:r>
            <a:r>
              <a:rPr dirty="0"/>
              <a:t> patterns capture antigen recognition specificity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rPr dirty="0"/>
              <a:t>  → CDR3 length variation reflects V(D)J recombination diversity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rPr dirty="0"/>
              <a:t>  → Physicochemical properties determine binding affinity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endParaRPr dirty="0"/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rPr dirty="0"/>
              <a:t>Gene Expression PCs (30% of top 20):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rPr dirty="0"/>
              <a:t>  → PC1/PC2 capture immune activation vs. quiescence axis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rPr dirty="0"/>
              <a:t>  → Cytotoxic T-cell signatures correlate with response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endParaRPr dirty="0"/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rPr dirty="0"/>
              <a:t>QC Metrics (10% of top 20):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rPr dirty="0"/>
              <a:t>  → Mitochondrial fraction may indicate cell stress/apoptosis</a:t>
            </a:r>
          </a:p>
          <a:p>
            <a:pPr>
              <a:spcAft>
                <a:spcPts val="600"/>
              </a:spcAft>
              <a:defRPr sz="1400">
                <a:solidFill>
                  <a:srgbClr val="C8C8D2"/>
                </a:solidFill>
                <a:latin typeface="Calibri"/>
              </a:defRPr>
            </a:pPr>
            <a:r>
              <a:rPr dirty="0"/>
              <a:t>  → Acts as confound indicator</a:t>
            </a:r>
            <a:r>
              <a:rPr lang="en-US" dirty="0"/>
              <a:t>, </a:t>
            </a:r>
            <a:r>
              <a:rPr dirty="0"/>
              <a:t>model appropriately learned its role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98DB"/>
                </a:solidFill>
                <a:latin typeface="Calibri"/>
              </a:defRPr>
            </a:pPr>
            <a:r>
              <a:t>Conclusion &amp; Future Directions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Calibri"/>
              </a:defRPr>
            </a:pPr>
            <a:r>
              <a:t>Key Contributions: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72800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C8C8D2"/>
                </a:solidFill>
                <a:latin typeface="Calibri"/>
              </a:defRPr>
            </a:pPr>
            <a:r>
              <a:rPr dirty="0"/>
              <a:t>1. Multi-modal integration of </a:t>
            </a:r>
            <a:r>
              <a:rPr dirty="0" err="1"/>
              <a:t>scRNA</a:t>
            </a:r>
            <a:r>
              <a:rPr dirty="0"/>
              <a:t>-seq + TCR-seq for immunotherapy response prediction</a:t>
            </a:r>
          </a:p>
          <a:p>
            <a:pPr>
              <a:spcAft>
                <a:spcPts val="600"/>
              </a:spcAft>
              <a:defRPr sz="1500">
                <a:solidFill>
                  <a:srgbClr val="C8C8D2"/>
                </a:solidFill>
                <a:latin typeface="Calibri"/>
              </a:defRPr>
            </a:pPr>
            <a:r>
              <a:rPr dirty="0"/>
              <a:t>2. Novel feature engineering: k-</a:t>
            </a:r>
            <a:r>
              <a:rPr dirty="0" err="1"/>
              <a:t>mer</a:t>
            </a:r>
            <a:r>
              <a:rPr dirty="0"/>
              <a:t> encoding + physicochemical properties of TCR CDR3 sequences</a:t>
            </a:r>
          </a:p>
          <a:p>
            <a:pPr>
              <a:spcAft>
                <a:spcPts val="600"/>
              </a:spcAft>
              <a:defRPr sz="1500">
                <a:solidFill>
                  <a:srgbClr val="C8C8D2"/>
                </a:solidFill>
                <a:latin typeface="Calibri"/>
              </a:defRPr>
            </a:pPr>
            <a:r>
              <a:rPr dirty="0"/>
              <a:t>3. Rigorous LOPO validation prevents data leakage in small-cohort clinical trial data</a:t>
            </a:r>
          </a:p>
          <a:p>
            <a:pPr>
              <a:spcAft>
                <a:spcPts val="600"/>
              </a:spcAft>
              <a:defRPr sz="1500">
                <a:solidFill>
                  <a:srgbClr val="C8C8D2"/>
                </a:solidFill>
                <a:latin typeface="Calibri"/>
              </a:defRPr>
            </a:pPr>
            <a:r>
              <a:rPr dirty="0"/>
              <a:t>4. </a:t>
            </a:r>
            <a:r>
              <a:rPr dirty="0" err="1"/>
              <a:t>XGBoost</a:t>
            </a:r>
            <a:r>
              <a:rPr dirty="0"/>
              <a:t> achieves best AUC=0.80</a:t>
            </a:r>
            <a:r>
              <a:rPr lang="en-US" dirty="0"/>
              <a:t>,</a:t>
            </a:r>
            <a:r>
              <a:rPr dirty="0"/>
              <a:t> demonstrates feasibility of pre-treatment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67E22"/>
                </a:solidFill>
                <a:latin typeface="Calibri"/>
              </a:defRPr>
            </a:pPr>
            <a:r>
              <a:t>Future Work: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0624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C8C8D2"/>
                </a:solidFill>
                <a:latin typeface="Calibri"/>
              </a:defRPr>
            </a:pPr>
            <a:r>
              <a:t>• Validation on larger, multi-site cohorts (TCGA, external clinical trials)</a:t>
            </a:r>
          </a:p>
          <a:p>
            <a:pPr>
              <a:spcAft>
                <a:spcPts val="600"/>
              </a:spcAft>
              <a:defRPr sz="1500">
                <a:solidFill>
                  <a:srgbClr val="C8C8D2"/>
                </a:solidFill>
                <a:latin typeface="Calibri"/>
              </a:defRPr>
            </a:pPr>
            <a:r>
              <a:t>• Integration of additional modalities (spatial transcriptomics, ATAC-seq)</a:t>
            </a:r>
          </a:p>
          <a:p>
            <a:pPr>
              <a:spcAft>
                <a:spcPts val="600"/>
              </a:spcAft>
              <a:defRPr sz="1500">
                <a:solidFill>
                  <a:srgbClr val="C8C8D2"/>
                </a:solidFill>
                <a:latin typeface="Calibri"/>
              </a:defRPr>
            </a:pPr>
            <a:r>
              <a:t>• Transformer-based models for end-to-end CDR3 sequence understanding</a:t>
            </a:r>
          </a:p>
          <a:p>
            <a:pPr>
              <a:spcAft>
                <a:spcPts val="600"/>
              </a:spcAft>
              <a:defRPr sz="1500">
                <a:solidFill>
                  <a:srgbClr val="C8C8D2"/>
                </a:solidFill>
                <a:latin typeface="Calibri"/>
              </a:defRPr>
            </a:pPr>
            <a:r>
              <a:t>• Temporal modeling across pre/post treatment timepoints</a:t>
            </a:r>
          </a:p>
          <a:p>
            <a:pPr>
              <a:spcAft>
                <a:spcPts val="600"/>
              </a:spcAft>
              <a:defRPr sz="1500">
                <a:solidFill>
                  <a:srgbClr val="C8C8D2"/>
                </a:solidFill>
                <a:latin typeface="Calibri"/>
              </a:defRPr>
            </a:pPr>
            <a:r>
              <a:t>• Clinical deployment via FDA-grade validation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5943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696A5"/>
                </a:solidFill>
                <a:latin typeface="Calibri"/>
              </a:defRPr>
            </a:pPr>
            <a:r>
              <a:t>Dataset: https://www.ncbi.nlm.nih.gov/geo/query/acc.cgi?acc=GSE300475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1397</Words>
  <Application>Microsoft Office PowerPoint</Application>
  <PresentationFormat>Widescreen</PresentationFormat>
  <Paragraphs>241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Anmol Josan</cp:lastModifiedBy>
  <cp:revision>4</cp:revision>
  <dcterms:created xsi:type="dcterms:W3CDTF">2013-01-27T09:14:16Z</dcterms:created>
  <dcterms:modified xsi:type="dcterms:W3CDTF">2026-03-02T16:32:10Z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2145c00-f4d6-4f27-874c-dea6154370e3_Enabled">
    <vt:lpwstr>true</vt:lpwstr>
  </property>
  <property fmtid="{D5CDD505-2E9C-101B-9397-08002B2CF9AE}" pid="3" name="MSIP_Label_f2145c00-f4d6-4f27-874c-dea6154370e3_SetDate">
    <vt:lpwstr>2026-02-28T01:28:28Z</vt:lpwstr>
  </property>
  <property fmtid="{D5CDD505-2E9C-101B-9397-08002B2CF9AE}" pid="4" name="MSIP_Label_f2145c00-f4d6-4f27-874c-dea6154370e3_Method">
    <vt:lpwstr>Standard</vt:lpwstr>
  </property>
  <property fmtid="{D5CDD505-2E9C-101B-9397-08002B2CF9AE}" pid="5" name="MSIP_Label_f2145c00-f4d6-4f27-874c-dea6154370e3_Name">
    <vt:lpwstr>defa4170-0d19-0005-0004-bc88714345d2</vt:lpwstr>
  </property>
  <property fmtid="{D5CDD505-2E9C-101B-9397-08002B2CF9AE}" pid="6" name="MSIP_Label_f2145c00-f4d6-4f27-874c-dea6154370e3_SiteId">
    <vt:lpwstr>b2681e8b-dd20-46cf-b163-371a2d7c6014</vt:lpwstr>
  </property>
  <property fmtid="{D5CDD505-2E9C-101B-9397-08002B2CF9AE}" pid="7" name="MSIP_Label_f2145c00-f4d6-4f27-874c-dea6154370e3_ActionId">
    <vt:lpwstr>d576846f-3363-40f2-a2f6-1ecbb877310d</vt:lpwstr>
  </property>
  <property fmtid="{D5CDD505-2E9C-101B-9397-08002B2CF9AE}" pid="8" name="MSIP_Label_f2145c00-f4d6-4f27-874c-dea6154370e3_ContentBits">
    <vt:lpwstr>0</vt:lpwstr>
  </property>
  <property fmtid="{D5CDD505-2E9C-101B-9397-08002B2CF9AE}" pid="9" name="MSIP_Label_f2145c00-f4d6-4f27-874c-dea6154370e3_Tag">
    <vt:lpwstr>10, 3, 0, 1</vt:lpwstr>
  </property>
</Properties>
</file>