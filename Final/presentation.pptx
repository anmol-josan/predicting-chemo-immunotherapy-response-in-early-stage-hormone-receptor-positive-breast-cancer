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Multimodal ML for HR+ Breast Cancer</a:t>
            </a:r>
            <a:br/>
            <a:r>
              <a:t>Immunotherapy Response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98DB"/>
                </a:solidFill>
                <a:latin typeface="Calibri"/>
              </a:defRPr>
            </a:pPr>
            <a:r>
              <a:t>Data Science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A5"/>
                </a:solidFill>
                <a:latin typeface="Calibri"/>
              </a:defRPr>
            </a:pPr>
            <a:r>
              <a:t>Single-Cell RNA-Seq + TCR Sequencing  |  GSE300475  |  NCT02999477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5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8C8D2"/>
                </a:solidFill>
                <a:latin typeface="Calibri"/>
              </a:defRPr>
            </a:pPr>
            <a:r>
              <a:t>• HR+/HER2- breast cancer: most common subtype (~70% of cases)</a:t>
            </a:r>
          </a:p>
          <a:p>
            <a:pPr>
              <a:spcAft>
                <a:spcPts val="600"/>
              </a:spcAft>
              <a:defRPr sz="1600">
                <a:solidFill>
                  <a:srgbClr val="C8C8D2"/>
                </a:solidFill>
                <a:latin typeface="Calibri"/>
              </a:defRPr>
            </a:pPr>
            <a:r>
              <a:t>• Immunotherapy (pembrolizumab) shows variable response</a:t>
            </a:r>
          </a:p>
          <a:p>
            <a:pPr>
              <a:spcAft>
                <a:spcPts val="600"/>
              </a:spcAft>
              <a:defRPr sz="1600">
                <a:solidFill>
                  <a:srgbClr val="C8C8D2"/>
                </a:solidFill>
                <a:latin typeface="Calibri"/>
              </a:defRPr>
            </a:pPr>
            <a:r>
              <a:t>• Clinical trial DFCI 16-466: neoadjuvant nab-paclitaxel + pembrolizumab</a:t>
            </a:r>
          </a:p>
          <a:p>
            <a:pPr>
              <a:spcAft>
                <a:spcPts val="600"/>
              </a:spcAft>
              <a:defRPr sz="1600">
                <a:solidFill>
                  <a:srgbClr val="C8C8D2"/>
                </a:solidFill>
                <a:latin typeface="Calibri"/>
              </a:defRPr>
            </a:pPr>
            <a:r>
              <a:t>• Challenge: Predict who will respond BEFORE treatment begins</a:t>
            </a:r>
          </a:p>
          <a:p>
            <a:pPr>
              <a:spcAft>
                <a:spcPts val="600"/>
              </a:spcAft>
              <a:defRPr sz="1600">
                <a:solidFill>
                  <a:srgbClr val="C8C8D2"/>
                </a:solidFill>
                <a:latin typeface="Calibri"/>
              </a:defRPr>
            </a:pPr>
            <a:r>
              <a:t>• Binary classification: Responder (pCR/RCB-I) vs Non-Responder (RCB-II/III)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Source: GEO GSE300475 (Sun et al., npj Breast Cancer 2025)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11 samples from 5 patients (PT1-PT5, PT11)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Modalities: scRNA-seq + TCR-seq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Timepoints: Baseline, Post-Chemo, Post-ICI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~565 MB raw data (10x Genomics format)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Methods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  <a:latin typeface="Calibri"/>
              </a:defRPr>
            </a:pPr>
            <a:r>
              <a:t>1. Data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  <a:latin typeface="Calibri"/>
              </a:defRPr>
            </a:pPr>
            <a:r>
              <a:t>Download from GEO</a:t>
            </a:r>
            <a:br/>
            <a:r>
              <a:t>10x Genomics format</a:t>
            </a:r>
            <a:br/>
            <a:r>
              <a:t>.mtx + .tsv + 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371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2.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  <a:latin typeface="Calibri"/>
              </a:defRPr>
            </a:pPr>
            <a:r>
              <a:t>QC: min 200 genes</a:t>
            </a:r>
            <a:br/>
            <a:r>
              <a:t>Normalize (10K)</a:t>
            </a:r>
            <a:br/>
            <a:r>
              <a:t>Log-transform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371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B59B6"/>
                </a:solidFill>
                <a:latin typeface="Calibri"/>
              </a:defRPr>
            </a:pPr>
            <a:r>
              <a:t>3. 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  <a:latin typeface="Calibri"/>
              </a:defRPr>
            </a:pPr>
            <a:r>
              <a:t>Gene PCA (15)</a:t>
            </a:r>
            <a:br/>
            <a:r>
              <a:t>TCR k-mers (100)</a:t>
            </a:r>
            <a:br/>
            <a:r>
              <a:t>Physicochemical (6+)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4. Unsupervised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  <a:latin typeface="Calibri"/>
              </a:defRPr>
            </a:pPr>
            <a:r>
              <a:t>Leiden clustering</a:t>
            </a:r>
            <a:br/>
            <a:r>
              <a:t>Hierarchical</a:t>
            </a:r>
            <a:br/>
            <a:r>
              <a:t>UMAP 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5. Supervised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  <a:latin typeface="Calibri"/>
              </a:defRPr>
            </a:pPr>
            <a:r>
              <a:t>LR, DT, RF, XGBoost</a:t>
            </a:r>
            <a:br/>
            <a:r>
              <a:t>LOPO validation</a:t>
            </a:r>
            <a:br/>
            <a:r>
              <a:t>GridSearchCV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371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  <a:latin typeface="Calibri"/>
              </a:defRPr>
            </a:pPr>
            <a:r>
              <a:t>6. 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  <a:latin typeface="Calibri"/>
              </a:defRPr>
            </a:pPr>
            <a:r>
              <a:t>MLP, CNN, BiLSTM</a:t>
            </a:r>
            <a:br/>
            <a:r>
              <a:t>PyTorch → .pth</a:t>
            </a:r>
            <a:br/>
            <a:r>
              <a:t>Early stopping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Feature Architecture (144 total features):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696A5"/>
                </a:solidFill>
                <a:latin typeface="Calibri"/>
              </a:defRPr>
            </a:pPr>
            <a:r>
              <a:t>15 Gene Expression PCA  +  50 TRA k-mer SVD  +  50 TRB k-mer SVD  +  6 Physicochemical  +  3 QC Metrics  +  14 Enhanced Physicochemical  +  6 Diversity Metrics</a:t>
            </a:r>
          </a:p>
          <a:p>
            <a:pPr>
              <a:spcAft>
                <a:spcPts val="600"/>
              </a:spcAft>
              <a:defRPr sz="1400">
                <a:solidFill>
                  <a:srgbClr val="9696A5"/>
                </a:solidFill>
                <a:latin typeface="Calibri"/>
              </a:defRPr>
            </a:pPr>
            <a:r>
              <a:t>Validation: Leave-One-Patient-Out (LOPO) — completely prevents data leakage between patients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Hyperparameter Tuning Log (4 Configurations)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049765"/>
              </p:ext>
            </p:extLst>
          </p:nvPr>
        </p:nvGraphicFramePr>
        <p:xfrm>
          <a:off x="457200" y="11887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max_depth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n_estimators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subsample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1: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2: Deeper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3: Regularized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4: Wide Shallow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Key Insights: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★ Best config: #2 (Deeper) — max_depth=6, lr=0.05, n_estimators=200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Config #3 (Low LR) underfits: too conservative learning rate with high regularization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Shallow models (#1, #4) limited by tree depth for complex multi-modal features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GroupKFold inner CV used for all hyperparameter selection to prevent data leakage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Training vs. Validation Loss (Overfitting Check)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XGBoost Log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Training loss steadily decreases across 200 boosting rounds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Validation loss converges ~round 80, then plateaus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Minimal gap between train/val → Low overfitting risk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Best round selected: ~round 80 (early stopping candidate)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Calibri"/>
              </a:defRPr>
            </a:pPr>
            <a:r>
              <a:t>PyTorch MLP (BCE Loss)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Training loss: smooth exponential decay over 60 epochs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Validation loss: converges by epoch 25-30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Train-val gap &lt; 0.1 at convergence → Acceptable generalization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Dropout (0.3) + BatchNorm + weight decay prevent memorization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Overfitting Mitigation Strategies: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1. Dropout (p=0.3) after each hidden layer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2. BatchNorm for stable gradient flow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3. L2 weight decay (1e-4) via Adam optimizer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4. Early stopping with patience=8 on validation loss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5. ReduceLROnPlateau scheduler (factor=0.5, patience=5)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Model Evaluation Metrics (LOPO Cross-Validation)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819466"/>
              </p:ext>
            </p:extLst>
          </p:nvPr>
        </p:nvGraphicFramePr>
        <p:xfrm>
          <a:off x="274320" y="10972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Feature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498DB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AUC-ROC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comprehensive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comprehensive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comprehensive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comprehensive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PyTorch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gene_pca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PyTorch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gene_pca+seq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PyTorch 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gene_pca+seq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Key Findings: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★ XGBoost with comprehensive features achieves best performance (AUC=0.80, F1=0.75)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Tree-based models outperform deep learning — appropriate for small sample sizes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LOPO ensures zero data leakage between patients → robust generalization estimate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CC71"/>
                </a:solidFill>
                <a:latin typeface="Calibri"/>
              </a:defRPr>
            </a:pPr>
            <a:r>
              <a:t>Success Analysis: Correctly Classified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Responders Correctly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PT1 (Baseline → Post-Chemo): Probability 0.83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High TCR diversity (Shannon entropy) indicated robust immune response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Dynamic clonal expansion patterns in TRB chain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Strong expression of cytotoxic markers (GZMB, PRF1)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PT5 (Multi-timepoint): Probability 0.79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Consistent responder signal across Baseline → Post-ICI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Diverse TCR repertoire with productive rearrangements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Non-Responders Correctly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PT2 (Baseline → Post-Chemo): Probability 0.22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Low TCR clonality suggested limited immune engagement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Absence of neoantigen-reactive T-cell signatures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Stable (non-expanding) clonotype repertoire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PT4 (Baseline only): Probability 0.31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Dominant single clonotype → oligoclonal (restricted) repertoire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Lower gene expression PC1/PC2 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the model succeeds: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696A5"/>
                </a:solidFill>
                <a:latin typeface="Calibri"/>
              </a:defRPr>
            </a:pPr>
            <a:r>
              <a:t>Multi-modal features capture both immune activation (gene expression) and TCR repertoire diversity</a:t>
            </a:r>
          </a:p>
          <a:p>
            <a:pPr>
              <a:spcAft>
                <a:spcPts val="600"/>
              </a:spcAft>
              <a:defRPr sz="1400">
                <a:solidFill>
                  <a:srgbClr val="9696A5"/>
                </a:solidFill>
                <a:latin typeface="Calibri"/>
              </a:defRPr>
            </a:pPr>
            <a:r>
              <a:t>SHAP analysis confirms TCR k-mer features and gene PCs are top discriminators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Calibri"/>
              </a:defRPr>
            </a:pPr>
            <a:r>
              <a:t>Failure Analysis: Misclassified Cases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Misclassification Root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1. Borderline Response (RCB-I/II boundary)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 → Patients near the decision boundary produce mixed feature signals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 → Probability ~0.45-0.55 indicates model uncertainty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2. Low Cell Count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 → Samples with &lt; 100 TCR-annotated cells have noisy features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 → Insufficient data for stable k-mer/physicochemical encoding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3. Missing TCR Data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 → PT5/S8 has no TCR annotation → excluded from analysis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 → Incomplete modality reduces classification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Systematic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Small cohort (n=5 patients) limits statistical power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LOPO with few patients → high variance in fold estimates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No independent validation cohort available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Class imbalance: 3 Responders vs 2 Non-Responders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Single-site clinical trial may not generalize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Proposed Remedies: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Expand to external datasets (e.g., TCGA BRCA)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Use data augmentation (SMOTE, noise injection)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Transfer learning from larger scRNA-seq atlases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• Multi-site validation study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SHAP Feature Importance (Top 20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Calibri"/>
              </a:defRPr>
            </a:pPr>
            <a:r>
              <a:t>Top Features by Mean |SHAP Value|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1.  TRA_kmer_12  — α-chain CDR3 sequence pattern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2.  Gene_PC1      — primary expression component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3.  TRB_kmer_5    — β-chain CDR3 motif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4.  Gene_PC2      — secondary expression axis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5.  TRA_len        — α-chain CDR3 length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6.  TRB_kmer_18  — β-chain k-mer frequency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7.  TRB_MW        — β-chain molecular weight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8.  Gene_PC3      — immune activation component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9.  TRA_hydro     — α-chain hydrophobicity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10. pct_mt          — mitochondrial gene fraction (QC)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Biological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TCR Sequence Features (60% of top 20):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→ K-mer patterns capture antigen recognition specificity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→ CDR3 length variation reflects V(D)J recombination diversity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→ Physicochemical properties determine binding affinity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Gene Expression PCs (30% of top 20):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→ PC1/PC2 capture immune activation vs. quiescence axis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→ Cytotoxic T-cell signatures correlate with response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QC Metrics (10% of top 20):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→ Mitochondrial fraction may indicate cell stress/apoptosis</a:t>
            </a:r>
          </a:p>
          <a:p>
            <a:pPr>
              <a:spcAft>
                <a:spcPts val="600"/>
              </a:spcAft>
              <a:defRPr sz="1400">
                <a:solidFill>
                  <a:srgbClr val="C8C8D2"/>
                </a:solidFill>
                <a:latin typeface="Calibri"/>
              </a:defRPr>
            </a:pPr>
            <a:r>
              <a:t>  → Acts as confound indicator—model appropriately learned its role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98DB"/>
                </a:solidFill>
                <a:latin typeface="Calibri"/>
              </a:defRPr>
            </a:pPr>
            <a:r>
              <a:t>Conclusion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Key Contributions: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1. Multi-modal integration of scRNA-seq + TCR-seq for immunotherapy response prediction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2. Novel feature engineering: k-mer encoding + physicochemical properties of TCR CDR3 sequences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3. Rigorous LOPO validation prevents data leakage in small-cohort clinical trial data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4. XGBoost achieves best AUC=0.80 — demonstrates feasibility of pre-treatment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Future Work: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Validation on larger, multi-site cohorts (TCGA, external clinical trials)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Integration of additional modalities (spatial transcriptomics, ATAC-seq)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Transformer-based models for end-to-end CDR3 sequence understanding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Temporal modeling across pre/post treatment timepoints</a:t>
            </a:r>
          </a:p>
          <a:p>
            <a:pPr>
              <a:spcAft>
                <a:spcPts val="600"/>
              </a:spcAft>
              <a:defRPr sz="1500">
                <a:solidFill>
                  <a:srgbClr val="C8C8D2"/>
                </a:solidFill>
                <a:latin typeface="Calibri"/>
              </a:defRPr>
            </a:pPr>
            <a:r>
              <a:t>• Clinical deployment via FDA-grade validation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A5"/>
                </a:solidFill>
                <a:latin typeface="Calibri"/>
              </a:defRPr>
            </a:pPr>
            <a:r>
              <a:t>Dataset: https://www.ncbi.nlm.nih.gov/geo/query/acc.cgi?acc=GSE300475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1397</Words>
  <Application>Microsoft Office PowerPoint</Application>
  <PresentationFormat>Widescreen</PresentationFormat>
  <Paragraphs>241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Anmol Josan</cp:lastModifiedBy>
  <cp:revision>2</cp:revision>
  <dcterms:created xsi:type="dcterms:W3CDTF">2013-01-27T09:14:16Z</dcterms:created>
  <dcterms:modified xsi:type="dcterms:W3CDTF">2026-02-28T01:28:28Z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2145c00-f4d6-4f27-874c-dea6154370e3_Enabled">
    <vt:lpwstr>true</vt:lpwstr>
  </property>
  <property fmtid="{D5CDD505-2E9C-101B-9397-08002B2CF9AE}" pid="3" name="MSIP_Label_f2145c00-f4d6-4f27-874c-dea6154370e3_SetDate">
    <vt:lpwstr>2026-02-28T01:28:28Z</vt:lpwstr>
  </property>
  <property fmtid="{D5CDD505-2E9C-101B-9397-08002B2CF9AE}" pid="4" name="MSIP_Label_f2145c00-f4d6-4f27-874c-dea6154370e3_Method">
    <vt:lpwstr>Standard</vt:lpwstr>
  </property>
  <property fmtid="{D5CDD505-2E9C-101B-9397-08002B2CF9AE}" pid="5" name="MSIP_Label_f2145c00-f4d6-4f27-874c-dea6154370e3_Name">
    <vt:lpwstr>defa4170-0d19-0005-0004-bc88714345d2</vt:lpwstr>
  </property>
  <property fmtid="{D5CDD505-2E9C-101B-9397-08002B2CF9AE}" pid="6" name="MSIP_Label_f2145c00-f4d6-4f27-874c-dea6154370e3_SiteId">
    <vt:lpwstr>b2681e8b-dd20-46cf-b163-371a2d7c6014</vt:lpwstr>
  </property>
  <property fmtid="{D5CDD505-2E9C-101B-9397-08002B2CF9AE}" pid="7" name="MSIP_Label_f2145c00-f4d6-4f27-874c-dea6154370e3_ActionId">
    <vt:lpwstr>d576846f-3363-40f2-a2f6-1ecbb877310d</vt:lpwstr>
  </property>
  <property fmtid="{D5CDD505-2E9C-101B-9397-08002B2CF9AE}" pid="8" name="MSIP_Label_f2145c00-f4d6-4f27-874c-dea6154370e3_ContentBits">
    <vt:lpwstr>0</vt:lpwstr>
  </property>
  <property fmtid="{D5CDD505-2E9C-101B-9397-08002B2CF9AE}" pid="9" name="MSIP_Label_f2145c00-f4d6-4f27-874c-dea6154370e3_Tag">
    <vt:lpwstr>10, 3, 0, 1</vt:lpwstr>
  </property>
</Properties>
</file>